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8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501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CompliFlow zmienia trzy rzeczy. Po pierwsze, ryzykowny transfer można zatrzymać zanim środki się ruszą. Po drugie, reviewer dostaje pełny kontekst w jednym miejscu. Po trzecie, finalny audyt można później zweryfikować, zamiast tylko ufać logom.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 jest moja wizja Legal from Day One. Nie dokładamy compliance później, tylko budujemy je od początku jako część flow płatności. Dzięki temu łączę prevention, explainability i integrity w jednym systemie.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</a:t>
            </a:r>
            <a:r>
              <a:rPr lang="pl-PL" sz="13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Silesia 2026</a:t>
            </a:r>
            <a:r>
              <a:rPr lang="en-US" sz="13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Legal from Day One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CompliFlow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548640" y="2697480"/>
            <a:ext cx="54864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269748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Compliance-gated payment orchestration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cryptographically anchored audit proofs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4297680"/>
            <a:ext cx="804672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Piotr</a:t>
            </a:r>
            <a:r>
              <a:rPr lang="pl-PL" sz="1200" kern="0" spc="2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Bibrzycki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3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7472" y="822960"/>
            <a:ext cx="89217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</a:t>
            </a:r>
            <a:r>
              <a:rPr lang="pl-PL" sz="2800" b="1" dirty="0" err="1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payments</a:t>
            </a:r>
            <a:r>
              <a:rPr lang="pl-PL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pl-PL" sz="2800" b="1" dirty="0" err="1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</a:t>
            </a:r>
            <a:r>
              <a:rPr lang="pl-PL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pl-PL" sz="2800" b="1" dirty="0" err="1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r>
              <a:rPr lang="pl-PL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pl-PL" sz="2800" b="1" dirty="0" err="1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pay the price. So do fintechs.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1" y="2240280"/>
            <a:ext cx="26974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1" y="2240280"/>
            <a:ext cx="73152" cy="2331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1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rebuilds take days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791" y="3611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regulator asks</a:t>
            </a:r>
            <a:r>
              <a:rPr lang="pl-PL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"why did this transfer pass?", tea</a:t>
            </a:r>
            <a:r>
              <a:rPr lang="pl-PL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reconstruct the answer from logs</a:t>
            </a:r>
            <a:r>
              <a:rPr lang="pl-PL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pl-PL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r>
              <a:rPr lang="pl-PL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r>
              <a:rPr lang="pl-PL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</a:t>
            </a:r>
            <a:r>
              <a:rPr lang="pl-PL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r>
              <a:rPr lang="pl-PL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27831" y="2240280"/>
            <a:ext cx="26974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27831" y="2240280"/>
            <a:ext cx="73152" cy="2331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1" y="25146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2151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aren't tamper-evident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02151" y="3611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logs sit in the same database as business data. </a:t>
            </a:r>
            <a:r>
              <a:rPr lang="pl-PL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</a:t>
            </a:r>
            <a:r>
              <a:rPr lang="pl-PL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pl-PL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access can rewrite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</a:t>
            </a:r>
            <a:r>
              <a:rPr lang="pl-PL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08191" y="2240280"/>
            <a:ext cx="26974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08191" y="2240280"/>
            <a:ext cx="73152" cy="2331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1" y="25146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2510" y="3063240"/>
            <a:ext cx="23125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startups ship without it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82511" y="3611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it’s a</a:t>
            </a:r>
            <a:r>
              <a:rPr lang="pl-PL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problem, years of transactions have no provenance.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23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786383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compliance the gate, not the paperwork.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730502"/>
            <a:ext cx="8046720" cy="100584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sp>
        <p:nvSpPr>
          <p:cNvPr id="5" name="Shape 3"/>
          <p:cNvSpPr/>
          <p:nvPr/>
        </p:nvSpPr>
        <p:spPr>
          <a:xfrm>
            <a:off x="365760" y="1730502"/>
            <a:ext cx="9144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0502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Funds don't move </a:t>
            </a:r>
            <a:r>
              <a:rPr lang="en-US" sz="24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until compliance decides.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3040381"/>
            <a:ext cx="2697480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68981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3223261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0080" y="3817621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transfer immediately.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3040381"/>
            <a:ext cx="2697480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3268981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3223261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FLAG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520440" y="3817621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human reviewer with full context.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26480" y="3040381"/>
            <a:ext cx="2697480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268981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3223261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6400800" y="3817621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Stop. Record reason. Nothing moves.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2900" y="698631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request. One gate. One immutable proof.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2900" y="1417320"/>
            <a:ext cx="16916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5564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50876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1821721"/>
            <a:ext cx="365760" cy="274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651760" y="1407291"/>
            <a:ext cx="16916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437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1719072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37560" y="15087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795911"/>
            <a:ext cx="365760" cy="27432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914900" y="1413191"/>
            <a:ext cx="16916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657" y="1728216"/>
            <a:ext cx="365760" cy="3657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669280" y="1508760"/>
            <a:ext cx="8613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(PASS/FLAG/BLOCK)</a:t>
            </a:r>
            <a:endParaRPr lang="en-US" sz="12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449" y="1795911"/>
            <a:ext cx="365760" cy="27432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7155180" y="1417320"/>
            <a:ext cx="16916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437"/>
            </a:solidFill>
            <a:prstDash val="solid"/>
          </a:ln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0" y="1719072"/>
            <a:ext cx="365760" cy="36576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857942" y="1508760"/>
            <a:ext cx="8554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event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payload</a:t>
            </a:r>
            <a:endParaRPr lang="en-US" sz="1200" dirty="0"/>
          </a:p>
        </p:txBody>
      </p:sp>
      <p:sp>
        <p:nvSpPr>
          <p:cNvPr id="19" name="Shape 10"/>
          <p:cNvSpPr/>
          <p:nvPr/>
        </p:nvSpPr>
        <p:spPr>
          <a:xfrm>
            <a:off x="548640" y="2908382"/>
            <a:ext cx="80467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pl-PL" dirty="0"/>
          </a:p>
        </p:txBody>
      </p:sp>
      <p:sp>
        <p:nvSpPr>
          <p:cNvPr id="20" name="Text 11"/>
          <p:cNvSpPr/>
          <p:nvPr/>
        </p:nvSpPr>
        <p:spPr>
          <a:xfrm>
            <a:off x="54864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Shape 12"/>
          <p:cNvSpPr/>
          <p:nvPr/>
        </p:nvSpPr>
        <p:spPr>
          <a:xfrm>
            <a:off x="342900" y="3360420"/>
            <a:ext cx="1691640" cy="14173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sp>
        <p:nvSpPr>
          <p:cNvPr id="22" name="Shape 13"/>
          <p:cNvSpPr/>
          <p:nvPr/>
        </p:nvSpPr>
        <p:spPr>
          <a:xfrm>
            <a:off x="342900" y="3360420"/>
            <a:ext cx="16916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" y="3589020"/>
            <a:ext cx="365760" cy="36576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982980" y="35433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</a:t>
            </a:r>
            <a:endParaRPr lang="en-US" sz="1300" dirty="0"/>
          </a:p>
        </p:txBody>
      </p:sp>
      <p:sp>
        <p:nvSpPr>
          <p:cNvPr id="25" name="Text 15"/>
          <p:cNvSpPr/>
          <p:nvPr/>
        </p:nvSpPr>
        <p:spPr>
          <a:xfrm>
            <a:off x="525780" y="41376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sorted, versioned</a:t>
            </a:r>
            <a:endParaRPr lang="en-US" sz="10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988" y="3954780"/>
            <a:ext cx="365760" cy="274320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2657474" y="3356144"/>
            <a:ext cx="1691640" cy="14173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8" name="Shape 17"/>
          <p:cNvSpPr/>
          <p:nvPr/>
        </p:nvSpPr>
        <p:spPr>
          <a:xfrm>
            <a:off x="2657474" y="3356144"/>
            <a:ext cx="16916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0354" y="3584744"/>
            <a:ext cx="365760" cy="36576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297554" y="3539024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keccak256</a:t>
            </a:r>
            <a:endParaRPr lang="en-US" sz="1300" dirty="0"/>
          </a:p>
        </p:txBody>
      </p:sp>
      <p:sp>
        <p:nvSpPr>
          <p:cNvPr id="31" name="Text 19"/>
          <p:cNvSpPr/>
          <p:nvPr/>
        </p:nvSpPr>
        <p:spPr>
          <a:xfrm>
            <a:off x="2840354" y="413338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hash</a:t>
            </a:r>
            <a:endParaRPr lang="en-US" sz="10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931920"/>
            <a:ext cx="365760" cy="274320"/>
          </a:xfrm>
          <a:prstGeom prst="rect">
            <a:avLst/>
          </a:prstGeom>
        </p:spPr>
      </p:pic>
      <p:sp>
        <p:nvSpPr>
          <p:cNvPr id="33" name="Shape 20"/>
          <p:cNvSpPr/>
          <p:nvPr/>
        </p:nvSpPr>
        <p:spPr>
          <a:xfrm>
            <a:off x="4919694" y="3333284"/>
            <a:ext cx="1691640" cy="14173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4" name="Shape 21"/>
          <p:cNvSpPr/>
          <p:nvPr/>
        </p:nvSpPr>
        <p:spPr>
          <a:xfrm>
            <a:off x="4919694" y="3333284"/>
            <a:ext cx="16916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36864" y="3561884"/>
            <a:ext cx="365760" cy="36576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674074" y="3516164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endParaRPr lang="en-US" sz="1300" dirty="0"/>
          </a:p>
        </p:txBody>
      </p:sp>
      <p:sp>
        <p:nvSpPr>
          <p:cNvPr id="37" name="Text 23"/>
          <p:cNvSpPr/>
          <p:nvPr/>
        </p:nvSpPr>
        <p:spPr>
          <a:xfrm>
            <a:off x="5216874" y="411052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web3j →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registry</a:t>
            </a:r>
            <a:endParaRPr lang="en-US" sz="1000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986" y="3944604"/>
            <a:ext cx="365760" cy="274320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7234268" y="3310424"/>
            <a:ext cx="1691640" cy="14173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40" name="Shape 25"/>
          <p:cNvSpPr/>
          <p:nvPr/>
        </p:nvSpPr>
        <p:spPr>
          <a:xfrm>
            <a:off x="7234268" y="3314996"/>
            <a:ext cx="16916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7884" y="3545071"/>
            <a:ext cx="365760" cy="365760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8029796" y="3526783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time</a:t>
            </a:r>
            <a:endParaRPr lang="en-US" sz="1300" dirty="0"/>
          </a:p>
        </p:txBody>
      </p:sp>
      <p:sp>
        <p:nvSpPr>
          <p:cNvPr id="43" name="Text 27"/>
          <p:cNvSpPr/>
          <p:nvPr/>
        </p:nvSpPr>
        <p:spPr>
          <a:xfrm>
            <a:off x="7572596" y="4121143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+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lookup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0" cy="365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502920" y="2571750"/>
            <a:ext cx="1965960" cy="1691640"/>
          </a:xfrm>
          <a:prstGeom prst="rect">
            <a:avLst/>
          </a:prstGeom>
          <a:solidFill>
            <a:srgbClr val="060B24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546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21183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57759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transfer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2571750"/>
            <a:ext cx="1965960" cy="1691640"/>
          </a:xfrm>
          <a:prstGeom prst="rect">
            <a:avLst/>
          </a:prstGeom>
          <a:solidFill>
            <a:srgbClr val="060B24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7546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834640" y="321183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357759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hit </a:t>
            </a:r>
            <a:r>
              <a:rPr lang="pl-PL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untouched.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571750"/>
            <a:ext cx="1965960" cy="1691640"/>
          </a:xfrm>
          <a:prstGeom prst="rect">
            <a:avLst/>
          </a:prstGeom>
          <a:solidFill>
            <a:srgbClr val="060B24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7546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937760" y="321183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→ approve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57759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with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2571750"/>
            <a:ext cx="1965960" cy="1691640"/>
          </a:xfrm>
          <a:prstGeom prst="rect">
            <a:avLst/>
          </a:prstGeom>
          <a:solidFill>
            <a:srgbClr val="060B24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27546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321183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+ verify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357759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on-chain,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BLOCKCHAIN 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600" b="1" dirty="0" err="1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</a:t>
            </a:r>
            <a:r>
              <a:rPr lang="pl-PL" sz="2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pl-PL" sz="2600" b="1" dirty="0" err="1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</a:t>
            </a:r>
            <a:r>
              <a:rPr lang="pl-PL" sz="2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pl-PL" sz="2600" b="1" dirty="0" err="1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fits</a:t>
            </a:r>
            <a:r>
              <a:rPr lang="pl-PL" sz="2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pl-PL" sz="2600" b="1" dirty="0" err="1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5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5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</a:t>
            </a:r>
            <a:r>
              <a:rPr lang="pl-PL" sz="1500" i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r>
              <a:rPr lang="pl-PL" sz="15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</a:t>
            </a:r>
            <a:r>
              <a:rPr lang="pl-PL" sz="1500" i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r>
              <a:rPr lang="pl-PL" sz="15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on-chain. </a:t>
            </a:r>
            <a:r>
              <a:rPr lang="pl-PL" sz="15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5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of each final audit trail</a:t>
            </a:r>
            <a:r>
              <a:rPr lang="pl-PL" sz="15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500" i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r>
              <a:rPr lang="pl-PL" sz="15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500" i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</a:t>
            </a:r>
            <a:r>
              <a:rPr lang="pl-PL" sz="15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931920" cy="2697480"/>
          </a:xfrm>
          <a:prstGeom prst="rect">
            <a:avLst/>
          </a:prstGeom>
          <a:solidFill>
            <a:srgbClr val="E8EE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2697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(private)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details and PII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events with reasons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identity and comments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JSON payload 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965960"/>
            <a:ext cx="3931920" cy="26974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965960"/>
            <a:ext cx="73152" cy="2697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(public)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256032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keccak256 hash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ID + schema version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timestamp (when it was final)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by anyone </a:t>
            </a:r>
            <a:r>
              <a:rPr lang="pl-PL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trusting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200" noProof="0" dirty="0"/>
          </a:p>
        </p:txBody>
      </p:sp>
      <p:sp>
        <p:nvSpPr>
          <p:cNvPr id="3" name="Title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noProof="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changes with CompliFlow</a:t>
            </a:r>
            <a:endParaRPr lang="en-US" sz="2800" noProof="0" dirty="0"/>
          </a:p>
        </p:txBody>
      </p:sp>
      <p:sp>
        <p:nvSpPr>
          <p:cNvPr id="5" name="Card 1"/>
          <p:cNvSpPr/>
          <p:nvPr/>
        </p:nvSpPr>
        <p:spPr>
          <a:xfrm>
            <a:off x="551590" y="2011680"/>
            <a:ext cx="26365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" name="IconCircle 1"/>
          <p:cNvSpPr/>
          <p:nvPr/>
        </p:nvSpPr>
        <p:spPr>
          <a:xfrm>
            <a:off x="780190" y="2240280"/>
            <a:ext cx="548640" cy="54864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7" name="Icon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95" y="2309085"/>
            <a:ext cx="411030" cy="411030"/>
          </a:xfrm>
          <a:prstGeom prst="rect">
            <a:avLst/>
          </a:prstGeom>
        </p:spPr>
      </p:pic>
      <p:sp>
        <p:nvSpPr>
          <p:cNvPr id="8" name="Card1 Title"/>
          <p:cNvSpPr/>
          <p:nvPr/>
        </p:nvSpPr>
        <p:spPr>
          <a:xfrm>
            <a:off x="780190" y="2956560"/>
            <a:ext cx="217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risky transfers</a:t>
            </a:r>
            <a:endParaRPr lang="en-US" sz="1500" noProof="0" dirty="0"/>
          </a:p>
        </p:txBody>
      </p:sp>
      <p:sp>
        <p:nvSpPr>
          <p:cNvPr id="9" name="Card1 Body"/>
          <p:cNvSpPr/>
          <p:nvPr/>
        </p:nvSpPr>
        <p:spPr>
          <a:xfrm>
            <a:off x="780190" y="3429000"/>
            <a:ext cx="217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ineligible transfers before funds move, not after.</a:t>
            </a:r>
            <a:endParaRPr lang="en-US" sz="1300" noProof="0" dirty="0"/>
          </a:p>
        </p:txBody>
      </p:sp>
      <p:sp>
        <p:nvSpPr>
          <p:cNvPr id="10" name="Card 2"/>
          <p:cNvSpPr/>
          <p:nvPr/>
        </p:nvSpPr>
        <p:spPr>
          <a:xfrm>
            <a:off x="3336290" y="2011680"/>
            <a:ext cx="26365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IconCircle 2"/>
          <p:cNvSpPr/>
          <p:nvPr/>
        </p:nvSpPr>
        <p:spPr>
          <a:xfrm>
            <a:off x="3564890" y="2240280"/>
            <a:ext cx="548640" cy="54864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2" name="Icon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3695" y="2309085"/>
            <a:ext cx="411030" cy="411030"/>
          </a:xfrm>
          <a:prstGeom prst="rect">
            <a:avLst/>
          </a:prstGeom>
        </p:spPr>
      </p:pic>
      <p:sp>
        <p:nvSpPr>
          <p:cNvPr id="13" name="Card2 Title"/>
          <p:cNvSpPr/>
          <p:nvPr/>
        </p:nvSpPr>
        <p:spPr>
          <a:xfrm>
            <a:off x="3564890" y="2956560"/>
            <a:ext cx="217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for reviewers</a:t>
            </a:r>
            <a:endParaRPr lang="en-US" sz="1500" noProof="0" dirty="0"/>
          </a:p>
        </p:txBody>
      </p:sp>
      <p:sp>
        <p:nvSpPr>
          <p:cNvPr id="14" name="Card2 Body"/>
          <p:cNvSpPr/>
          <p:nvPr/>
        </p:nvSpPr>
        <p:spPr>
          <a:xfrm>
            <a:off x="3564890" y="3429000"/>
            <a:ext cx="217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Reason, policy and payload delivered in one place.</a:t>
            </a:r>
            <a:endParaRPr lang="en-US" sz="1300" noProof="0" dirty="0"/>
          </a:p>
        </p:txBody>
      </p:sp>
      <p:sp>
        <p:nvSpPr>
          <p:cNvPr id="15" name="Card 3"/>
          <p:cNvSpPr/>
          <p:nvPr/>
        </p:nvSpPr>
        <p:spPr>
          <a:xfrm>
            <a:off x="6120990" y="2011680"/>
            <a:ext cx="26365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IconCircle 3"/>
          <p:cNvSpPr/>
          <p:nvPr/>
        </p:nvSpPr>
        <p:spPr>
          <a:xfrm>
            <a:off x="6349590" y="2240280"/>
            <a:ext cx="548640" cy="54864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7" name="Icon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8395" y="2309085"/>
            <a:ext cx="411030" cy="411030"/>
          </a:xfrm>
          <a:prstGeom prst="rect">
            <a:avLst/>
          </a:prstGeom>
        </p:spPr>
      </p:pic>
      <p:sp>
        <p:nvSpPr>
          <p:cNvPr id="18" name="Card3 Title"/>
          <p:cNvSpPr/>
          <p:nvPr/>
        </p:nvSpPr>
        <p:spPr>
          <a:xfrm>
            <a:off x="6349590" y="2956560"/>
            <a:ext cx="217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audit integrity</a:t>
            </a:r>
            <a:endParaRPr lang="en-US" sz="1500" noProof="0" dirty="0"/>
          </a:p>
        </p:txBody>
      </p:sp>
      <p:sp>
        <p:nvSpPr>
          <p:cNvPr id="19" name="Card3 Body"/>
          <p:cNvSpPr/>
          <p:nvPr/>
        </p:nvSpPr>
        <p:spPr>
          <a:xfrm>
            <a:off x="6349590" y="3429000"/>
            <a:ext cx="217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Recheck the final audit history later </a:t>
            </a:r>
            <a:r>
              <a:rPr lang="pl-PL" sz="13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need to trust logs alone.</a:t>
            </a:r>
            <a:endParaRPr lang="en-US" sz="13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61849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from Day One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88620" y="1772250"/>
            <a:ext cx="2697480" cy="2377440"/>
          </a:xfrm>
          <a:prstGeom prst="rect">
            <a:avLst/>
          </a:prstGeom>
          <a:solidFill>
            <a:srgbClr val="060B24"/>
          </a:solidFill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sp>
        <p:nvSpPr>
          <p:cNvPr id="6" name="Text 3"/>
          <p:cNvSpPr/>
          <p:nvPr/>
        </p:nvSpPr>
        <p:spPr>
          <a:xfrm>
            <a:off x="1143000" y="19177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51560" y="2763868"/>
            <a:ext cx="1783080" cy="530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chemeClr val="bg1"/>
                </a:solidFill>
              </a:rPr>
              <a:t>Compliance before execution</a:t>
            </a:r>
          </a:p>
        </p:txBody>
      </p:sp>
      <p:sp>
        <p:nvSpPr>
          <p:cNvPr id="8" name="Shape 5"/>
          <p:cNvSpPr/>
          <p:nvPr/>
        </p:nvSpPr>
        <p:spPr>
          <a:xfrm>
            <a:off x="3223260" y="1780392"/>
            <a:ext cx="2697480" cy="2377440"/>
          </a:xfrm>
          <a:prstGeom prst="rect">
            <a:avLst/>
          </a:prstGeom>
          <a:solidFill>
            <a:srgbClr val="060B24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977640" y="19359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11880" y="2653769"/>
            <a:ext cx="2286000" cy="680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chemeClr val="bg1"/>
                </a:solidFill>
              </a:rPr>
              <a:t>Every decision has reason and context</a:t>
            </a:r>
          </a:p>
        </p:txBody>
      </p:sp>
      <p:sp>
        <p:nvSpPr>
          <p:cNvPr id="12" name="Shape 8"/>
          <p:cNvSpPr/>
          <p:nvPr/>
        </p:nvSpPr>
        <p:spPr>
          <a:xfrm>
            <a:off x="6126480" y="1734820"/>
            <a:ext cx="2697480" cy="2377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634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19359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600" b="1" dirty="0" err="1">
                <a:solidFill>
                  <a:srgbClr val="060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720840" y="2583493"/>
            <a:ext cx="1534438" cy="710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600"/>
              </a:spcAft>
              <a:buSzPct val="100000"/>
            </a:pPr>
            <a:r>
              <a:rPr lang="en-US" sz="1200" dirty="0"/>
              <a:t>Final audit history can be verified</a:t>
            </a:r>
          </a:p>
        </p:txBody>
      </p:sp>
      <p:sp>
        <p:nvSpPr>
          <p:cNvPr id="16" name="Shape 11"/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100" kern="0" spc="3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Piotr Bibrzycki | </a:t>
            </a:r>
            <a:r>
              <a:rPr lang="pl-PL" sz="1100" kern="0" spc="300" dirty="0" err="1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ETHSilesia</a:t>
            </a:r>
            <a:r>
              <a:rPr lang="pl-PL" sz="1100" kern="0" spc="3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475</Words>
  <Application>Microsoft Office PowerPoint</Application>
  <PresentationFormat>Pokaz na ekranie (16:9)</PresentationFormat>
  <Paragraphs>104</Paragraphs>
  <Slides>8</Slides>
  <Notes>8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CompliFlow — Legal from Day One</dc:title>
  <dc:subject>PptxGenJS Presentation</dc:subject>
  <dc:creator>Piotrek</dc:creator>
  <cp:lastModifiedBy>Piotr Bibrzycki</cp:lastModifiedBy>
  <cp:revision>4</cp:revision>
  <dcterms:created xsi:type="dcterms:W3CDTF">2026-04-18T19:36:42Z</dcterms:created>
  <dcterms:modified xsi:type="dcterms:W3CDTF">2026-04-19T07:56:32Z</dcterms:modified>
</cp:coreProperties>
</file>